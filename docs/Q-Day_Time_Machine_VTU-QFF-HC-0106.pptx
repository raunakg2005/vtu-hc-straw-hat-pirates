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5B3BA8"/>
                </a:solidFill>
                <a:latin typeface="Calibri"/>
              </a:rPr>
              <a:t>ibm_marrakesh, 4,000 shots per circuit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Hardware success (%)</c:v>
                </c:pt>
              </c:strCache>
            </c:strRef>
          </c:tx>
          <c:spPr>
            <a:solidFill>
              <a:srgbClr val="5B3BA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Shor a=7</c:v>
                </c:pt>
                <c:pt idx="1">
                  <c:v>Shor a=2</c:v>
                </c:pt>
                <c:pt idx="2">
                  <c:v>Shor a=13</c:v>
                </c:pt>
                <c:pt idx="3">
                  <c:v>Grover 1 iter</c:v>
                </c:pt>
                <c:pt idx="4">
                  <c:v>Grover 2 iter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68.2</c:v>
                </c:pt>
                <c:pt idx="1">
                  <c:v>68.2</c:v>
                </c:pt>
                <c:pt idx="2">
                  <c:v>71.599999999999994</c:v>
                </c:pt>
                <c:pt idx="3">
                  <c:v>54.5</c:v>
                </c:pt>
                <c:pt idx="4">
                  <c:v>46.3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AA6-4A85-A78A-8B41C00EBC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Noise / random-guess baseline (%)</c:v>
                </c:pt>
              </c:strCache>
            </c:strRef>
          </c:tx>
          <c:spPr>
            <a:solidFill>
              <a:srgbClr val="E8639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Shor a=7</c:v>
                </c:pt>
                <c:pt idx="1">
                  <c:v>Shor a=2</c:v>
                </c:pt>
                <c:pt idx="2">
                  <c:v>Shor a=13</c:v>
                </c:pt>
                <c:pt idx="3">
                  <c:v>Grover 1 iter</c:v>
                </c:pt>
                <c:pt idx="4">
                  <c:v>Grover 2 iter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12.5</c:v>
                </c:pt>
                <c:pt idx="4">
                  <c:v>12.5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AA6-4A85-A78A-8B41C00EBC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8BDEB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D9DCF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5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2E1B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</a:t>
            </a:r>
          </a:p>
          <a:p>
            <a:r>
              <a:t>Shor's algorithm breaks the RSA and elliptic-curve cryptography that protects today's logins, payments and signatures.</a:t>
            </a:r>
          </a:p>
          <a:p>
            <a:r>
              <a:t>Attackers can already record encrypted traffic and decrypt it later: "harvest now, decrypt later".</a:t>
            </a:r>
          </a:p>
          <a:p>
            <a:r>
              <a:t>The gap</a:t>
            </a:r>
          </a:p>
          <a:p>
            <a:r>
              <a:t>Organisations cannot answer the questions that drive decisions:</a:t>
            </a:r>
          </a:p>
          <a:p>
            <a:r>
              <a:t>Which of my systems break first?</a:t>
            </a:r>
          </a:p>
          <a:p>
            <a:r>
              <a:t>In what year do they break?</a:t>
            </a:r>
          </a:p>
          <a:p>
            <a:r>
              <a:t>Is the data I send today already at risk?</a:t>
            </a:r>
          </a:p>
          <a:p>
            <a:r>
              <a:t>Inventory tools list where cryptography is used. They do not turn that list into a timeline, a priority order or a proof.</a:t>
            </a:r>
          </a:p>
          <a:p>
            <a:r>
              <a:t>Why it matters</a:t>
            </a:r>
          </a:p>
          <a:p>
            <a:r>
              <a:t>NIST's draft transition plan (IR 8547) disallows RSA and elliptic-curve cryptography by 2035, and migrations take years.</a:t>
            </a:r>
          </a:p>
          <a:p>
            <a:r>
              <a:t>Data with a long shelf life (health records, finance, identity) is already exposed if it is recorded today.</a:t>
            </a:r>
          </a:p>
          <a:p>
            <a:r>
              <a:t>Teams need to know where to start, and why to believe the timeline.</a:t>
            </a:r>
          </a:p>
          <a:p>
            <a:r>
              <a:t>Track / Category</a:t>
            </a:r>
          </a:p>
          <a:p>
            <a:r>
              <a:t>Online  ·  Track 1  ·  Quantum Cryptography &amp; Security</a:t>
            </a:r>
          </a:p>
          <a:p>
            <a:r>
              <a:t>Problem statement: Q-Day Time Machine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</a:t>
            </a:r>
          </a:p>
          <a:p>
            <a:r>
              <a:t>Scan live TLS endpoints and source code (eight languages) for quantum-vulnerable cryptography</a:t>
            </a:r>
          </a:p>
          <a:p>
            <a:r>
              <a:t>Inventory it as a CycloneDX 1.6 Cryptography Bill of Materials (CBOM)</a:t>
            </a:r>
          </a:p>
          <a:p>
            <a:r>
              <a:t>Forecast a break year for every algorithm from published attack costs vs IBM's roadmap</a:t>
            </a:r>
          </a:p>
          <a:p>
            <a:r>
              <a:t>Prioritise with Mosca's inequality and a harvest-now window</a:t>
            </a:r>
          </a:p>
          <a:p>
            <a:r>
              <a:t>Prove the threat with Shor and Grover attacks on real IBM quantum hardware</a:t>
            </a:r>
          </a:p>
          <a:p>
            <a:r>
              <a:t>Fix it: show NIST post-quantum ML-KEM-768 and ML-DSA-65 working live</a:t>
            </a:r>
          </a:p>
          <a:p>
            <a:r>
              <a:t>Novelty</a:t>
            </a:r>
          </a:p>
          <a:p>
            <a:r>
              <a:t>A timeline, not just an inventory: checks logical qubits and Toffoli-gate counts year by year</a:t>
            </a:r>
          </a:p>
          <a:p>
            <a:r>
              <a:t>Pre-registered hardware tests: rules (strict-v1) fixed in code before the runs; Grover secrets drawn blind at submit time</a:t>
            </a:r>
          </a:p>
          <a:p>
            <a:r>
              <a:t>Honest circuits: modular multipliers are synthesised for any constant, so the circuit never encodes the answer</a:t>
            </a:r>
          </a:p>
          <a:p>
            <a:r>
              <a:t>Independent check: a second simulator (quantum-debugger) agrees with Qiskit to 3 × 10-13</a:t>
            </a:r>
          </a:p>
          <a:p>
            <a:r>
              <a:t>Live detection of the hybrid post-quantum group X25519MLKEM768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Solution: six steps from inventory to proof</a:t>
            </a:r>
          </a:p>
          <a:p>
            <a:r>
              <a:t>Scan: TLS certificates, key-exchange groups and source code</a:t>
            </a:r>
          </a:p>
          <a:p>
            <a:r>
              <a:t>CBOM: CycloneDX 1.6 inventory with a quantum-security level per algorithm</a:t>
            </a:r>
          </a:p>
          <a:p>
            <a:r>
              <a:t>Time Machine: year slider against IBM's roadmap (Starling 2029, Blue Jay 2033+)</a:t>
            </a:r>
          </a:p>
          <a:p>
            <a:r>
              <a:t>Risk: Mosca's inequality and the harvest-now window</a:t>
            </a:r>
          </a:p>
          <a:p>
            <a:r>
              <a:t>Prove it: Shor and Grover in Qiskit on IBM hardware, stepped through gate by gate</a:t>
            </a:r>
          </a:p>
          <a:p>
            <a:r>
              <a:t>Migrate: hybrid X25519 + ML-KEM-768 and ML-DSA-65 beside RSA-2048 and ECDSA P-256</a:t>
            </a:r>
          </a:p>
          <a:p>
            <a:r>
              <a:t>Quantum advantage</a:t>
            </a:r>
          </a:p>
          <a:p>
            <a:r>
              <a:t>Shor's algorithm: polynomial-time order finding breaks factoring and discrete logs. RSA-2048 needs about 1,399 logical qubits and 6.5 × 109 Toffoli gates; ECC P-256 about 2,330 qubits and 1.3 × 1011.</a:t>
            </a:r>
          </a:p>
          <a:p>
            <a:r>
              <a:t>Grover's search: about (π/4)·√(2n) oracle calls instead of up to 2n trials, halving symmetric key strength, which is why AES-256 is advised over AES-128.</a:t>
            </a:r>
          </a:p>
          <a:p>
            <a:r>
              <a:t>Forecast: RSA-2048 is qubits-ready in 2033 but short on operations; breakable about 2037 with continued growth (hypothetical). ECC P-256 about 2042.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Shor: order finding</a:t>
            </a:r>
          </a:p>
          <a:p>
            <a:r>
              <a:t>Phase estimation on f(x) = ax mod N: counting qubit j controls multiply by a^(2^j) mod N</a:t>
            </a:r>
          </a:p>
          <a:p>
            <a:r>
              <a:t>Inverse QFT, then continued fractions give the period r and gcd(ar/2 ± 1, N) the factors</a:t>
            </a:r>
          </a:p>
          <a:p>
            <a:r>
              <a:t>N = 15: multipliers are bit rotations plus NOT (173 two-qubit gates)</a:t>
            </a:r>
          </a:p>
          <a:p>
            <a:r>
              <a:t>Grover: key search</a:t>
            </a:r>
          </a:p>
          <a:p>
            <a:r>
              <a:t>Toy cipher Ek(p) = S(p XOR k) with PRESENT's 4-bit S-box (3-bit on hardware)</a:t>
            </a:r>
          </a:p>
          <a:p>
            <a:r>
              <a:t>Oracle flips the phase of keys with Ek(p) = c; diffuser reflects about the mean</a:t>
            </a:r>
          </a:p>
          <a:p>
            <a:r>
              <a:t>About (π/4)·√(2n) iterations; success follows sin2((2i+1)θ)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</a:t>
            </a:r>
          </a:p>
          <a:p>
            <a:r>
              <a:t>Python package qday with a CLI: scan, cbom, forecast, shor, grover, pqc</a:t>
            </a:r>
          </a:p>
          <a:p>
            <a:r>
              <a:t>Scanner: TLS handshake via ssl and openssl s_client; regex rules extract key sizes and curves</a:t>
            </a:r>
          </a:p>
          <a:p>
            <a:r>
              <a:t>Quantum core: Shor and Grover circuits transpiled and run with SamplerV2 on IBM backends</a:t>
            </a:r>
          </a:p>
          <a:p>
            <a:r>
              <a:t>Statistics: Wilson intervals, exact binomial and chi-square tests, Hellinger fidelity</a:t>
            </a:r>
          </a:p>
          <a:p>
            <a:r>
              <a:t>Streamlit dashboard (Scan, Time Machine, Prove it, Migrate, Sources) with a three.js landing page</a:t>
            </a:r>
          </a:p>
          <a:p>
            <a:r>
              <a:t>969 tests at 96% coverage; CI on Python 3.11 and 3.12; non-root Docker image</a:t>
            </a:r>
          </a:p>
          <a:p>
            <a:r>
              <a:t>Tech stack</a:t>
            </a:r>
          </a:p>
          <a:p>
            <a:r>
              <a:t>Language: Python 3.11+</a:t>
            </a:r>
          </a:p>
          <a:p>
            <a:r>
              <a:t>Quantum: Qiskit ≥ 2.1, Aer, IBM Runtime (SamplerV2)</a:t>
            </a:r>
          </a:p>
          <a:p>
            <a:r>
              <a:t>Hardware: ibm_fez, ibm_kingston, ibm_marrakesh</a:t>
            </a:r>
          </a:p>
          <a:p>
            <a:r>
              <a:t>Post-quantum: kyber-py and dilithium-py (FIPS 203 / 204), cryptography</a:t>
            </a:r>
          </a:p>
          <a:p>
            <a:r>
              <a:t>Debugging: quantum-debugger (independent state-vector check)</a:t>
            </a:r>
          </a:p>
          <a:p>
            <a:r>
              <a:t>Data and UI: NumPy, SciPy, pandas, Streamlit, Plotly, aiohttp, three.js, GSAP</a:t>
            </a:r>
          </a:p>
          <a:p>
            <a:r>
              <a:t>Quality: pytest, Hypothesis, ruff, GitHub Actions, Docker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Simulator (ideal)</a:t>
            </a:r>
          </a:p>
          <a:p>
            <a:r>
              <a:t>Shor factors 15 (every base) and 21; Grover recovers all 16 four-bit and all 8 three-bit keys, matching theory (P = 0.961 and 0.945)</a:t>
            </a:r>
          </a:p>
          <a:p>
            <a:r>
              <a:t>Real IBM hardware</a:t>
            </a:r>
          </a:p>
          <a:p>
            <a:r>
              <a:t>17 circuits × 4,000 shots on ibm_fez, ibm_kingston and ibm_marrakesh: 45 / 45 tests pass, both controls behave</a:t>
            </a:r>
          </a:p>
          <a:p>
            <a:r>
              <a:t>Top Shor outcomes are exactly the ideal peaks y = 0, 2, 4, 6</a:t>
            </a:r>
          </a:p>
          <a:p>
            <a:r>
              <a:t>Pre-registered strict suite</a:t>
            </a:r>
          </a:p>
          <a:p>
            <a:r>
              <a:t>Shor 24 / 24; Grover 10 / 18 (placement matters); ibm_kingston passes all 14 / 14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</a:t>
            </a:r>
          </a:p>
          <a:p>
            <a:r>
              <a:t>Turns a crypto inventory into a timeline: every finding gets a break year, a risk level and a replacement</a:t>
            </a:r>
          </a:p>
          <a:p>
            <a:r>
              <a:t>Shows teams what to fix first, and why to trust the date</a:t>
            </a:r>
          </a:p>
          <a:p>
            <a:r>
              <a:t>Shows that recorded traffic is a risk today, not only after the quantum break</a:t>
            </a:r>
          </a:p>
          <a:p>
            <a:r>
              <a:t>Real case: our own site (quantyxio.cloud) already negotiates X25519MLKEM768, so recorded traffic is protected, but its ECDSA P-256 certificate is not: impersonation becomes possible once such signatures can be forged</a:t>
            </a:r>
          </a:p>
          <a:p>
            <a:r>
              <a:t>Real-world applications</a:t>
            </a:r>
          </a:p>
          <a:p>
            <a:r>
              <a:t>Banks and payments: RSA and ECC in logins, payments and signatures</a:t>
            </a:r>
          </a:p>
          <a:p>
            <a:r>
              <a:t>Healthcare, finance, identity: long-lived data exposed to harvest-now attacks</a:t>
            </a:r>
          </a:p>
          <a:p>
            <a:r>
              <a:t>Enterprise migration: CBOM inventory to plan the NIST IR 8547 transition</a:t>
            </a:r>
          </a:p>
          <a:p>
            <a:r>
              <a:t>DevSecOps: qday scan --fail-on critical as a CI gate</a:t>
            </a:r>
          </a:p>
          <a:p>
            <a:r>
              <a:t>Security teams and educators: a live demo that Shor and Grover are real algorithms on real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Challenges</a:t>
            </a:r>
          </a:p>
          <a:p>
            <a:r>
              <a:t>Noise: Grover's ~140 two-qubit gates lose signal; on ibm_marrakesh, placement gave 22% vs 64% success</a:t>
            </a:r>
          </a:p>
          <a:p>
            <a:r>
              <a:t>Scale: N = 21 compiles to ~6,500 two-qubit gates (N = 15 needs 173), so it ran on simulators only</a:t>
            </a:r>
          </a:p>
          <a:p>
            <a:r>
              <a:t>Toy instances: N = 15, 21 and 3 to 4-bit keys, not production keys</a:t>
            </a:r>
          </a:p>
          <a:p>
            <a:r>
              <a:t>Forecasts rest on published estimates and IBM's stated roadmap; after 2033 they are extrapolations</a:t>
            </a:r>
          </a:p>
          <a:p>
            <a:r>
              <a:t>Scanner is pattern-based: findings are leads, not proof of reachability</a:t>
            </a:r>
          </a:p>
          <a:p>
            <a:r>
              <a:t>Future scope</a:t>
            </a:r>
          </a:p>
          <a:p>
            <a:r>
              <a:t>Run larger instances on fault-tolerant machines (IBM Starling 2029, Blue Jay 2033+)</a:t>
            </a:r>
          </a:p>
          <a:p>
            <a:r>
              <a:t>Update forecasts with newer elliptic-curve estimates, which are lower than the 2017 bound used here</a:t>
            </a:r>
          </a:p>
          <a:p>
            <a:r>
              <a:t>Use error suppression and better qubit placement to lift Grover's hardware success</a:t>
            </a:r>
          </a:p>
          <a:p>
            <a:r>
              <a:t>Add reachability analysis to the code scanner to cut false leads</a:t>
            </a:r>
          </a:p>
          <a:p>
            <a:r>
              <a:t>Repeat-run checks on ibm_fez and ibm_marrakesh, as already done on ibm_kingston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0.png"/><Relationship Id="rId10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vtu-qiskit-fall-fest-2026/vtu-hc-straw-hat-pirates/tree/feature/q-day-time-machine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hyperlink" Target="https://youtu.be/8AHgcPisYlE" TargetMode="External"/><Relationship Id="rId9" Type="http://schemas.openxmlformats.org/officeDocument/2006/relationships/image" Target="../media/image42.png"/><Relationship Id="rId10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Q-Day Time Machine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Cryptography &amp; Security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 Hat Pirates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Kumar Gupta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raunakg2005@gmail.com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Raunak Kumar Gupta  ·  Krish Jain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 Somaiya College Of Engineering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577780" y="3922776"/>
            <a:ext cx="206477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HARVEST NOW, DECRYPT LATER</a:t>
            </a:r>
          </a:p>
        </p:txBody>
      </p:sp>
      <p:pic>
        <p:nvPicPr>
          <p:cNvPr id="27" name="Icon attacker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" y="2011680"/>
            <a:ext cx="603504" cy="603504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274319" y="26700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Record today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Encrypted traffic, 2026</a:t>
            </a:r>
          </a:p>
        </p:txBody>
      </p:sp>
      <p:sp>
        <p:nvSpPr>
          <p:cNvPr id="29" name="Arrow"/>
          <p:cNvSpPr/>
          <p:nvPr/>
        </p:nvSpPr>
        <p:spPr>
          <a:xfrm>
            <a:off x="1463039" y="2231136"/>
            <a:ext cx="868680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con stor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2011680"/>
            <a:ext cx="603504" cy="603504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1965960" y="26700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Store for years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Storage is cheap</a:t>
            </a:r>
          </a:p>
        </p:txBody>
      </p:sp>
      <p:sp>
        <p:nvSpPr>
          <p:cNvPr id="32" name="Arrow"/>
          <p:cNvSpPr/>
          <p:nvPr/>
        </p:nvSpPr>
        <p:spPr>
          <a:xfrm>
            <a:off x="3154680" y="2231136"/>
            <a:ext cx="868680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 qpu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7" y="2011680"/>
            <a:ext cx="603504" cy="603504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3657599" y="26700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Decrypt on Q-Day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RSA-2048 ≈ 2037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02920" y="324612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6B5E8A"/>
                </a:solidFill>
                <a:latin typeface="Calibri"/>
              </a:rPr>
              <a:t>No team can answer:</a:t>
            </a:r>
          </a:p>
        </p:txBody>
      </p:sp>
      <p:sp>
        <p:nvSpPr>
          <p:cNvPr id="36" name="Pill"/>
          <p:cNvSpPr/>
          <p:nvPr/>
        </p:nvSpPr>
        <p:spPr>
          <a:xfrm>
            <a:off x="502920" y="3493008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Which systems break first?</a:t>
            </a:r>
          </a:p>
        </p:txBody>
      </p:sp>
      <p:sp>
        <p:nvSpPr>
          <p:cNvPr id="37" name="Pill"/>
          <p:cNvSpPr/>
          <p:nvPr/>
        </p:nvSpPr>
        <p:spPr>
          <a:xfrm>
            <a:off x="2103120" y="3493008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In what year?</a:t>
            </a:r>
          </a:p>
        </p:txBody>
      </p:sp>
      <p:sp>
        <p:nvSpPr>
          <p:cNvPr id="38" name="Pill"/>
          <p:cNvSpPr/>
          <p:nvPr/>
        </p:nvSpPr>
        <p:spPr>
          <a:xfrm>
            <a:off x="3703320" y="3493008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Is today's data at risk?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02920" y="4041648"/>
            <a:ext cx="960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2035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527048" y="4041648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NIST draft retires
RSA and ECC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2926080" y="4041648"/>
            <a:ext cx="960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1,399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3950208" y="4041648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logical qubits to
break RSA‑2048</a:t>
            </a:r>
          </a:p>
        </p:txBody>
      </p:sp>
      <p:pic>
        <p:nvPicPr>
          <p:cNvPr id="43" name="Screenshot tunnel_2026" descr="Q-Day Time Machine landing page at 2026 · safe toda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1755648"/>
            <a:ext cx="1536192" cy="1755648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44" name="Text"/>
          <p:cNvSpPr txBox="1"/>
          <p:nvPr/>
        </p:nvSpPr>
        <p:spPr>
          <a:xfrm>
            <a:off x="5440680" y="3566160"/>
            <a:ext cx="1536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F9E78"/>
                </a:solidFill>
                <a:latin typeface="Calibri"/>
              </a:rPr>
              <a:t>2026 · safe today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every ring green</a:t>
            </a:r>
          </a:p>
        </p:txBody>
      </p:sp>
      <p:pic>
        <p:nvPicPr>
          <p:cNvPr id="45" name="Screenshot tunnel_2041" descr="Q-Day Time Machine landing page at 2041 · breakab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755648"/>
            <a:ext cx="1536192" cy="1755648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46" name="Text"/>
          <p:cNvSpPr txBox="1"/>
          <p:nvPr/>
        </p:nvSpPr>
        <p:spPr>
          <a:xfrm>
            <a:off x="7086600" y="3566160"/>
            <a:ext cx="1536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8639F"/>
                </a:solidFill>
                <a:latin typeface="Calibri"/>
              </a:rPr>
              <a:t>2041 · breakable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RSA and ECC rings turn pink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5440680" y="416052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1">
                <a:solidFill>
                  <a:srgbClr val="6B5E8A"/>
                </a:solidFill>
                <a:latin typeface="Calibri"/>
              </a:rPr>
              <a:t>Our Time Machine: each ring is one year on IBM's quantum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WHAT IT DOES</a:t>
            </a:r>
          </a:p>
        </p:txBody>
      </p:sp>
      <p:sp>
        <p:nvSpPr>
          <p:cNvPr id="27" name="Card"/>
          <p:cNvSpPr/>
          <p:nvPr/>
        </p:nvSpPr>
        <p:spPr>
          <a:xfrm>
            <a:off x="502920" y="198424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sca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30552"/>
            <a:ext cx="475488" cy="475488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649224" y="2679191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Scan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Websites + code, 8 languages</a:t>
            </a:r>
          </a:p>
        </p:txBody>
      </p:sp>
      <p:sp>
        <p:nvSpPr>
          <p:cNvPr id="30" name="Card"/>
          <p:cNvSpPr/>
          <p:nvPr/>
        </p:nvSpPr>
        <p:spPr>
          <a:xfrm>
            <a:off x="2112264" y="198424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Icon cbom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130552"/>
            <a:ext cx="475488" cy="475488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2258568" y="2679191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Inventory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CycloneDX 1.6 CBOM</a:t>
            </a:r>
          </a:p>
        </p:txBody>
      </p:sp>
      <p:sp>
        <p:nvSpPr>
          <p:cNvPr id="33" name="Card"/>
          <p:cNvSpPr/>
          <p:nvPr/>
        </p:nvSpPr>
        <p:spPr>
          <a:xfrm>
            <a:off x="3721608" y="198424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Icon forecast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912" y="2130552"/>
            <a:ext cx="475488" cy="475488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3867912" y="2679191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Forecast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A break year per algorithm</a:t>
            </a:r>
          </a:p>
        </p:txBody>
      </p:sp>
      <p:sp>
        <p:nvSpPr>
          <p:cNvPr id="36" name="Card"/>
          <p:cNvSpPr/>
          <p:nvPr/>
        </p:nvSpPr>
        <p:spPr>
          <a:xfrm>
            <a:off x="502920" y="331012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Icon risk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456432"/>
            <a:ext cx="475488" cy="475488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649224" y="4005072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Prioritise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Mosca's rule + harvest window</a:t>
            </a:r>
          </a:p>
        </p:txBody>
      </p:sp>
      <p:sp>
        <p:nvSpPr>
          <p:cNvPr id="39" name="Card"/>
          <p:cNvSpPr/>
          <p:nvPr/>
        </p:nvSpPr>
        <p:spPr>
          <a:xfrm>
            <a:off x="2112264" y="331012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Icon prove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" y="3456432"/>
            <a:ext cx="475488" cy="475488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2258568" y="4005072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Prove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Shor &amp; Grover on IBM QPUs</a:t>
            </a:r>
          </a:p>
        </p:txBody>
      </p:sp>
      <p:sp>
        <p:nvSpPr>
          <p:cNvPr id="42" name="Card"/>
          <p:cNvSpPr/>
          <p:nvPr/>
        </p:nvSpPr>
        <p:spPr>
          <a:xfrm>
            <a:off x="3721608" y="3310128"/>
            <a:ext cx="151790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Icon fix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7912" y="3456432"/>
            <a:ext cx="475488" cy="475488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3867912" y="4005072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Fix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ML-KEM &amp; ML-DSA, live</a:t>
            </a:r>
          </a:p>
        </p:txBody>
      </p:sp>
      <p:sp>
        <p:nvSpPr>
          <p:cNvPr id="45" name="Card"/>
          <p:cNvSpPr/>
          <p:nvPr/>
        </p:nvSpPr>
        <p:spPr>
          <a:xfrm>
            <a:off x="5440680" y="1737360"/>
            <a:ext cx="324612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Label"/>
          <p:cNvSpPr txBox="1"/>
          <p:nvPr/>
        </p:nvSpPr>
        <p:spPr>
          <a:xfrm>
            <a:off x="5623560" y="1856231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WHAT'S NEW</a:t>
            </a:r>
          </a:p>
        </p:txBody>
      </p:sp>
      <p:pic>
        <p:nvPicPr>
          <p:cNvPr id="47" name="Icon timeline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2148840"/>
            <a:ext cx="365760" cy="365760"/>
          </a:xfrm>
          <a:prstGeom prst="rect">
            <a:avLst/>
          </a:prstGeom>
        </p:spPr>
      </p:pic>
      <p:sp>
        <p:nvSpPr>
          <p:cNvPr id="48" name="Text"/>
          <p:cNvSpPr txBox="1"/>
          <p:nvPr/>
        </p:nvSpPr>
        <p:spPr>
          <a:xfrm>
            <a:off x="6108192" y="214884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A timeline, not just an inventory</a:t>
            </a:r>
          </a:p>
        </p:txBody>
      </p:sp>
      <p:pic>
        <p:nvPicPr>
          <p:cNvPr id="49" name="Icon lock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3560" y="2633472"/>
            <a:ext cx="365760" cy="365760"/>
          </a:xfrm>
          <a:prstGeom prst="rect">
            <a:avLst/>
          </a:prstGeom>
        </p:spPr>
      </p:pic>
      <p:sp>
        <p:nvSpPr>
          <p:cNvPr id="50" name="Text"/>
          <p:cNvSpPr txBox="1"/>
          <p:nvPr/>
        </p:nvSpPr>
        <p:spPr>
          <a:xfrm>
            <a:off x="6108192" y="263347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Hardware tests pre-registered in code</a:t>
            </a:r>
          </a:p>
        </p:txBody>
      </p:sp>
      <p:pic>
        <p:nvPicPr>
          <p:cNvPr id="51" name="Icon honest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3118104"/>
            <a:ext cx="365760" cy="365760"/>
          </a:xfrm>
          <a:prstGeom prst="rect">
            <a:avLst/>
          </a:prstGeom>
        </p:spPr>
      </p:pic>
      <p:sp>
        <p:nvSpPr>
          <p:cNvPr id="52" name="Text"/>
          <p:cNvSpPr txBox="1"/>
          <p:nvPr/>
        </p:nvSpPr>
        <p:spPr>
          <a:xfrm>
            <a:off x="6108192" y="311810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Circuits never encode the answer</a:t>
            </a:r>
          </a:p>
        </p:txBody>
      </p:sp>
      <p:pic>
        <p:nvPicPr>
          <p:cNvPr id="53" name="Icon debugger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3560" y="3602736"/>
            <a:ext cx="365760" cy="365760"/>
          </a:xfrm>
          <a:prstGeom prst="rect">
            <a:avLst/>
          </a:prstGeom>
        </p:spPr>
      </p:pic>
      <p:sp>
        <p:nvSpPr>
          <p:cNvPr id="54" name="Text"/>
          <p:cNvSpPr txBox="1"/>
          <p:nvPr/>
        </p:nvSpPr>
        <p:spPr>
          <a:xfrm>
            <a:off x="6108192" y="3602736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Second simulator: quantum-debugger</a:t>
            </a:r>
          </a:p>
        </p:txBody>
      </p:sp>
      <p:pic>
        <p:nvPicPr>
          <p:cNvPr id="55" name="Icon hybrid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3560" y="4087368"/>
            <a:ext cx="365760" cy="365760"/>
          </a:xfrm>
          <a:prstGeom prst="rect">
            <a:avLst/>
          </a:prstGeom>
        </p:spPr>
      </p:pic>
      <p:sp>
        <p:nvSpPr>
          <p:cNvPr id="56" name="Text"/>
          <p:cNvSpPr txBox="1"/>
          <p:nvPr/>
        </p:nvSpPr>
        <p:spPr>
          <a:xfrm>
            <a:off x="6108192" y="40873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Detects hybrid post-quantum TLS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pic>
        <p:nvPicPr>
          <p:cNvPr id="26" name="Icon scan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37360"/>
            <a:ext cx="530352" cy="530352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4846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Scan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TLS + code</a:t>
            </a:r>
          </a:p>
        </p:txBody>
      </p:sp>
      <p:sp>
        <p:nvSpPr>
          <p:cNvPr id="28" name="Arrow"/>
          <p:cNvSpPr/>
          <p:nvPr/>
        </p:nvSpPr>
        <p:spPr>
          <a:xfrm>
            <a:off x="14904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 cbom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1737360"/>
            <a:ext cx="530352" cy="530352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18562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CBOM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CycloneDX 1.6</a:t>
            </a:r>
          </a:p>
        </p:txBody>
      </p:sp>
      <p:sp>
        <p:nvSpPr>
          <p:cNvPr id="31" name="Arrow"/>
          <p:cNvSpPr/>
          <p:nvPr/>
        </p:nvSpPr>
        <p:spPr>
          <a:xfrm>
            <a:off x="28620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 forecast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1737360"/>
            <a:ext cx="530352" cy="530352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32278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Time Machine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IBM roadmap</a:t>
            </a:r>
          </a:p>
        </p:txBody>
      </p:sp>
      <p:sp>
        <p:nvSpPr>
          <p:cNvPr id="34" name="Arrow"/>
          <p:cNvSpPr/>
          <p:nvPr/>
        </p:nvSpPr>
        <p:spPr>
          <a:xfrm>
            <a:off x="42336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con risk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1737360"/>
            <a:ext cx="530352" cy="530352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45994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Risk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Mosca's rule</a:t>
            </a:r>
          </a:p>
        </p:txBody>
      </p:sp>
      <p:sp>
        <p:nvSpPr>
          <p:cNvPr id="37" name="Arrow"/>
          <p:cNvSpPr/>
          <p:nvPr/>
        </p:nvSpPr>
        <p:spPr>
          <a:xfrm>
            <a:off x="56052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con prove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1737360"/>
            <a:ext cx="530352" cy="530352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5971032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Prove it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IBM hardware</a:t>
            </a:r>
          </a:p>
        </p:txBody>
      </p:sp>
      <p:sp>
        <p:nvSpPr>
          <p:cNvPr id="40" name="Arrow"/>
          <p:cNvSpPr/>
          <p:nvPr/>
        </p:nvSpPr>
        <p:spPr>
          <a:xfrm>
            <a:off x="6976872" y="1929384"/>
            <a:ext cx="676656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Icon fix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4" y="1737360"/>
            <a:ext cx="530352" cy="530352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7342631" y="2313432"/>
            <a:ext cx="13167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Migrate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6B5E8A"/>
                </a:solidFill>
                <a:latin typeface="Calibri"/>
              </a:rPr>
              <a:t>ML-KEM, ML-DSA</a:t>
            </a:r>
          </a:p>
        </p:txBody>
      </p:sp>
      <p:pic>
        <p:nvPicPr>
          <p:cNvPr id="43" name="Screenshot hero" descr="Q-Day Time Machine landing page with the 3D year tunn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2971800"/>
            <a:ext cx="2926080" cy="1645920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44" name="Card"/>
          <p:cNvSpPr/>
          <p:nvPr/>
        </p:nvSpPr>
        <p:spPr>
          <a:xfrm>
            <a:off x="3520440" y="2971800"/>
            <a:ext cx="1645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"/>
          <p:cNvSpPr txBox="1"/>
          <p:nvPr/>
        </p:nvSpPr>
        <p:spPr>
          <a:xfrm>
            <a:off x="3657600" y="310896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E8639F"/>
                </a:solidFill>
                <a:latin typeface="Georgia"/>
              </a:rPr>
              <a:t>Fast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3657600" y="370332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Shor's algorithm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polynomial time: breaks RSA and ECC</a:t>
            </a:r>
          </a:p>
        </p:txBody>
      </p:sp>
      <p:sp>
        <p:nvSpPr>
          <p:cNvPr id="47" name="Card"/>
          <p:cNvSpPr/>
          <p:nvPr/>
        </p:nvSpPr>
        <p:spPr>
          <a:xfrm>
            <a:off x="5257800" y="2971800"/>
            <a:ext cx="1645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"/>
          <p:cNvSpPr txBox="1"/>
          <p:nvPr/>
        </p:nvSpPr>
        <p:spPr>
          <a:xfrm>
            <a:off x="5394960" y="310896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E8639F"/>
                </a:solidFill>
                <a:latin typeface="Georgia"/>
              </a:rPr>
              <a:t>√N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5394960" y="370332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Grover's search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halves symmetric key strength</a:t>
            </a:r>
          </a:p>
        </p:txBody>
      </p:sp>
      <p:sp>
        <p:nvSpPr>
          <p:cNvPr id="50" name="Card"/>
          <p:cNvSpPr/>
          <p:nvPr/>
        </p:nvSpPr>
        <p:spPr>
          <a:xfrm>
            <a:off x="6995160" y="2971800"/>
            <a:ext cx="16459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"/>
          <p:cNvSpPr txBox="1"/>
          <p:nvPr/>
        </p:nvSpPr>
        <p:spPr>
          <a:xfrm>
            <a:off x="7132320" y="310896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E8639F"/>
                </a:solidFill>
                <a:latin typeface="Georgia"/>
              </a:rPr>
              <a:t>≈ 2037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7132320" y="370332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RSA-2048 falls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1,399 qubits, 6.5×10⁹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4187952"/>
            <a:ext cx="45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000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order finding for N = 15, a = 7 (4 counting + 4 work qubits)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Circuit diagram" descr="Shor order-finding circuit for N = 15, a = 7: four counting qubits with Hadamards, controlled modular multipliers, inverse QFT and measur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812" y="1783080"/>
            <a:ext cx="3324535" cy="2377440"/>
          </a:xfrm>
          <a:prstGeom prst="rect">
            <a:avLst/>
          </a:prstGeom>
        </p:spPr>
      </p:pic>
      <p:sp>
        <p:nvSpPr>
          <p:cNvPr id="27" name="Label"/>
          <p:cNvSpPr txBox="1"/>
          <p:nvPr/>
        </p:nvSpPr>
        <p:spPr>
          <a:xfrm>
            <a:off x="5577840" y="173736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SHOR · ORDER FINDING</a:t>
            </a:r>
          </a:p>
        </p:txBody>
      </p:sp>
      <p:sp>
        <p:nvSpPr>
          <p:cNvPr id="28" name="Pill"/>
          <p:cNvSpPr/>
          <p:nvPr/>
        </p:nvSpPr>
        <p:spPr>
          <a:xfrm>
            <a:off x="5577840" y="198424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Superpose</a:t>
            </a:r>
          </a:p>
        </p:txBody>
      </p:sp>
      <p:sp>
        <p:nvSpPr>
          <p:cNvPr id="29" name="Arrow"/>
          <p:cNvSpPr/>
          <p:nvPr/>
        </p:nvSpPr>
        <p:spPr>
          <a:xfrm>
            <a:off x="6510528" y="2093976"/>
            <a:ext cx="118872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ill"/>
          <p:cNvSpPr/>
          <p:nvPr/>
        </p:nvSpPr>
        <p:spPr>
          <a:xfrm>
            <a:off x="6647688" y="198424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aˣ mod 15</a:t>
            </a:r>
          </a:p>
        </p:txBody>
      </p:sp>
      <p:sp>
        <p:nvSpPr>
          <p:cNvPr id="31" name="Arrow"/>
          <p:cNvSpPr/>
          <p:nvPr/>
        </p:nvSpPr>
        <p:spPr>
          <a:xfrm>
            <a:off x="7580375" y="2093976"/>
            <a:ext cx="118872" cy="146304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ill"/>
          <p:cNvSpPr/>
          <p:nvPr/>
        </p:nvSpPr>
        <p:spPr>
          <a:xfrm>
            <a:off x="7717536" y="198424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2E1B5B"/>
                </a:solidFill>
                <a:latin typeface="Calibri"/>
              </a:rPr>
              <a:t>QFT⁻¹</a:t>
            </a:r>
          </a:p>
        </p:txBody>
      </p:sp>
      <p:sp>
        <p:nvSpPr>
          <p:cNvPr id="33" name="Pill"/>
          <p:cNvSpPr/>
          <p:nvPr/>
        </p:nvSpPr>
        <p:spPr>
          <a:xfrm>
            <a:off x="5577840" y="245059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EEF0FC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2E1B5B"/>
                </a:solidFill>
                <a:latin typeface="Calibri"/>
              </a:rPr>
              <a:t>period r = 4</a:t>
            </a:r>
          </a:p>
        </p:txBody>
      </p:sp>
      <p:sp>
        <p:nvSpPr>
          <p:cNvPr id="34" name="Arrow"/>
          <p:cNvSpPr/>
          <p:nvPr/>
        </p:nvSpPr>
        <p:spPr>
          <a:xfrm>
            <a:off x="6967728" y="2569464"/>
            <a:ext cx="274320" cy="146304"/>
          </a:xfrm>
          <a:prstGeom prst="rightArrow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ill"/>
          <p:cNvSpPr/>
          <p:nvPr/>
        </p:nvSpPr>
        <p:spPr>
          <a:xfrm>
            <a:off x="7315200" y="24505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= 3 × 5</a:t>
            </a:r>
          </a:p>
        </p:txBody>
      </p:sp>
      <p:sp>
        <p:nvSpPr>
          <p:cNvPr id="36" name="Label"/>
          <p:cNvSpPr txBox="1"/>
          <p:nvPr/>
        </p:nvSpPr>
        <p:spPr>
          <a:xfrm>
            <a:off x="5577840" y="301752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GROVER · KEY SEARCH</a:t>
            </a:r>
          </a:p>
        </p:txBody>
      </p:sp>
      <p:pic>
        <p:nvPicPr>
          <p:cNvPr id="37" name="Screenshot debug" descr="quantum-debugger step-through: amplitude of every key after the diffuser, and the key's probability following the sin squared l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246120"/>
            <a:ext cx="3108960" cy="1309036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sp>
        <p:nvSpPr>
          <p:cNvPr id="38" name="Text"/>
          <p:cNvSpPr txBox="1"/>
          <p:nvPr/>
        </p:nvSpPr>
        <p:spPr>
          <a:xfrm>
            <a:off x="5577840" y="457200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6B5E8A"/>
                </a:solidFill>
                <a:latin typeface="Calibri"/>
              </a:rPr>
              <a:t>Oracle flips the key's sign · diffuser amplifies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INPUTS</a:t>
            </a:r>
          </a:p>
        </p:txBody>
      </p:sp>
      <p:sp>
        <p:nvSpPr>
          <p:cNvPr id="27" name="Card"/>
          <p:cNvSpPr/>
          <p:nvPr/>
        </p:nvSpPr>
        <p:spPr>
          <a:xfrm>
            <a:off x="502920" y="1993392"/>
            <a:ext cx="16916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glob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57400"/>
            <a:ext cx="347472" cy="347472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005840" y="199339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Websites (TLS)</a:t>
            </a:r>
          </a:p>
        </p:txBody>
      </p:sp>
      <p:sp>
        <p:nvSpPr>
          <p:cNvPr id="30" name="Card"/>
          <p:cNvSpPr/>
          <p:nvPr/>
        </p:nvSpPr>
        <p:spPr>
          <a:xfrm>
            <a:off x="502920" y="2560320"/>
            <a:ext cx="16916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Icon cod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624328"/>
            <a:ext cx="347472" cy="347472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1005840" y="2560320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Source code</a:t>
            </a:r>
          </a:p>
        </p:txBody>
      </p:sp>
      <p:sp>
        <p:nvSpPr>
          <p:cNvPr id="33" name="Arrow"/>
          <p:cNvSpPr/>
          <p:nvPr/>
        </p:nvSpPr>
        <p:spPr>
          <a:xfrm>
            <a:off x="2267712" y="2377440"/>
            <a:ext cx="384048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"/>
          <p:cNvSpPr/>
          <p:nvPr/>
        </p:nvSpPr>
        <p:spPr>
          <a:xfrm>
            <a:off x="2724912" y="18288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EF0FC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2862072" y="190195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5B3BA8"/>
                </a:solidFill>
                <a:latin typeface="Georgia"/>
              </a:rPr>
              <a:t>qday engine</a:t>
            </a:r>
          </a:p>
        </p:txBody>
      </p:sp>
      <p:sp>
        <p:nvSpPr>
          <p:cNvPr id="36" name="Card"/>
          <p:cNvSpPr/>
          <p:nvPr/>
        </p:nvSpPr>
        <p:spPr>
          <a:xfrm>
            <a:off x="2862072" y="2212848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Icon scan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936" y="2267712"/>
            <a:ext cx="292608" cy="292608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3273552" y="2212848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Scanner</a:t>
            </a:r>
          </a:p>
        </p:txBody>
      </p:sp>
      <p:sp>
        <p:nvSpPr>
          <p:cNvPr id="39" name="Card"/>
          <p:cNvSpPr/>
          <p:nvPr/>
        </p:nvSpPr>
        <p:spPr>
          <a:xfrm>
            <a:off x="4343400" y="2212848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Icon forecast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2267712"/>
            <a:ext cx="292608" cy="292608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4754880" y="2212848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Forecast</a:t>
            </a:r>
          </a:p>
        </p:txBody>
      </p:sp>
      <p:sp>
        <p:nvSpPr>
          <p:cNvPr id="42" name="Card"/>
          <p:cNvSpPr/>
          <p:nvPr/>
        </p:nvSpPr>
        <p:spPr>
          <a:xfrm>
            <a:off x="2862072" y="2688336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Icon prove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6936" y="2743200"/>
            <a:ext cx="292608" cy="292608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3273552" y="268833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Quantum core</a:t>
            </a:r>
          </a:p>
        </p:txBody>
      </p:sp>
      <p:sp>
        <p:nvSpPr>
          <p:cNvPr id="45" name="Card"/>
          <p:cNvSpPr/>
          <p:nvPr/>
        </p:nvSpPr>
        <p:spPr>
          <a:xfrm>
            <a:off x="4343400" y="2688336"/>
            <a:ext cx="1389888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Icon fix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264" y="2743200"/>
            <a:ext cx="292608" cy="292608"/>
          </a:xfrm>
          <a:prstGeom prst="rect">
            <a:avLst/>
          </a:prstGeom>
        </p:spPr>
      </p:pic>
      <p:sp>
        <p:nvSpPr>
          <p:cNvPr id="47" name="Text"/>
          <p:cNvSpPr txBox="1"/>
          <p:nvPr/>
        </p:nvSpPr>
        <p:spPr>
          <a:xfrm>
            <a:off x="4754880" y="2688336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E1B5B"/>
                </a:solidFill>
                <a:latin typeface="Calibri"/>
              </a:rPr>
              <a:t>Post-quantum</a:t>
            </a:r>
          </a:p>
        </p:txBody>
      </p:sp>
      <p:sp>
        <p:nvSpPr>
          <p:cNvPr id="48" name="Arrow"/>
          <p:cNvSpPr/>
          <p:nvPr/>
        </p:nvSpPr>
        <p:spPr>
          <a:xfrm>
            <a:off x="5998464" y="2377440"/>
            <a:ext cx="384048" cy="182880"/>
          </a:xfrm>
          <a:prstGeom prst="rightArrow">
            <a:avLst/>
          </a:prstGeom>
          <a:solidFill>
            <a:srgbClr val="B8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abel"/>
          <p:cNvSpPr txBox="1"/>
          <p:nvPr/>
        </p:nvSpPr>
        <p:spPr>
          <a:xfrm>
            <a:off x="6455664" y="173736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OUTPUTS</a:t>
            </a:r>
          </a:p>
        </p:txBody>
      </p:sp>
      <p:sp>
        <p:nvSpPr>
          <p:cNvPr id="50" name="Card"/>
          <p:cNvSpPr/>
          <p:nvPr/>
        </p:nvSpPr>
        <p:spPr>
          <a:xfrm>
            <a:off x="6455664" y="1993392"/>
            <a:ext cx="22311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Icon dashboard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2039112"/>
            <a:ext cx="274320" cy="274320"/>
          </a:xfrm>
          <a:prstGeom prst="rect">
            <a:avLst/>
          </a:prstGeom>
        </p:spPr>
      </p:pic>
      <p:sp>
        <p:nvSpPr>
          <p:cNvPr id="52" name="Text"/>
          <p:cNvSpPr txBox="1"/>
          <p:nvPr/>
        </p:nvSpPr>
        <p:spPr>
          <a:xfrm>
            <a:off x="6858000" y="1993392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Dashboard + 3D site</a:t>
            </a:r>
          </a:p>
        </p:txBody>
      </p:sp>
      <p:sp>
        <p:nvSpPr>
          <p:cNvPr id="53" name="Card"/>
          <p:cNvSpPr/>
          <p:nvPr/>
        </p:nvSpPr>
        <p:spPr>
          <a:xfrm>
            <a:off x="6455664" y="2414016"/>
            <a:ext cx="22311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Icon ci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8" y="2459736"/>
            <a:ext cx="274320" cy="274320"/>
          </a:xfrm>
          <a:prstGeom prst="rect">
            <a:avLst/>
          </a:prstGeom>
        </p:spPr>
      </p:pic>
      <p:sp>
        <p:nvSpPr>
          <p:cNvPr id="55" name="Text"/>
          <p:cNvSpPr txBox="1"/>
          <p:nvPr/>
        </p:nvSpPr>
        <p:spPr>
          <a:xfrm>
            <a:off x="6858000" y="2414016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CLI · CI gate</a:t>
            </a:r>
          </a:p>
        </p:txBody>
      </p:sp>
      <p:sp>
        <p:nvSpPr>
          <p:cNvPr id="56" name="Card"/>
          <p:cNvSpPr/>
          <p:nvPr/>
        </p:nvSpPr>
        <p:spPr>
          <a:xfrm>
            <a:off x="6455664" y="2834640"/>
            <a:ext cx="22311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Icon inventory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0528" y="2880360"/>
            <a:ext cx="274320" cy="274320"/>
          </a:xfrm>
          <a:prstGeom prst="rect">
            <a:avLst/>
          </a:prstGeom>
        </p:spPr>
      </p:pic>
      <p:sp>
        <p:nvSpPr>
          <p:cNvPr id="58" name="Text"/>
          <p:cNvSpPr txBox="1"/>
          <p:nvPr/>
        </p:nvSpPr>
        <p:spPr>
          <a:xfrm>
            <a:off x="6858000" y="283464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CBOM file</a:t>
            </a:r>
          </a:p>
        </p:txBody>
      </p:sp>
      <p:sp>
        <p:nvSpPr>
          <p:cNvPr id="59" name="Label"/>
          <p:cNvSpPr txBox="1"/>
          <p:nvPr/>
        </p:nvSpPr>
        <p:spPr>
          <a:xfrm>
            <a:off x="502920" y="34015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STACK</a:t>
            </a:r>
          </a:p>
        </p:txBody>
      </p:sp>
      <p:sp>
        <p:nvSpPr>
          <p:cNvPr id="60" name="Pill"/>
          <p:cNvSpPr/>
          <p:nvPr/>
        </p:nvSpPr>
        <p:spPr>
          <a:xfrm>
            <a:off x="502920" y="3639312"/>
            <a:ext cx="106436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Python 3.11+</a:t>
            </a:r>
          </a:p>
        </p:txBody>
      </p:sp>
      <p:sp>
        <p:nvSpPr>
          <p:cNvPr id="61" name="Pill"/>
          <p:cNvSpPr/>
          <p:nvPr/>
        </p:nvSpPr>
        <p:spPr>
          <a:xfrm>
            <a:off x="1658721" y="3639312"/>
            <a:ext cx="13277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Qiskit 2.1 + Aer</a:t>
            </a:r>
          </a:p>
        </p:txBody>
      </p:sp>
      <p:sp>
        <p:nvSpPr>
          <p:cNvPr id="62" name="Pill"/>
          <p:cNvSpPr/>
          <p:nvPr/>
        </p:nvSpPr>
        <p:spPr>
          <a:xfrm>
            <a:off x="3077870" y="3639312"/>
            <a:ext cx="9985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IBM Runtime</a:t>
            </a:r>
          </a:p>
        </p:txBody>
      </p:sp>
      <p:sp>
        <p:nvSpPr>
          <p:cNvPr id="63" name="Pill"/>
          <p:cNvSpPr/>
          <p:nvPr/>
        </p:nvSpPr>
        <p:spPr>
          <a:xfrm>
            <a:off x="4167835" y="3639312"/>
            <a:ext cx="13277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quantum‑debugger</a:t>
            </a:r>
          </a:p>
        </p:txBody>
      </p:sp>
      <p:sp>
        <p:nvSpPr>
          <p:cNvPr id="64" name="Pill"/>
          <p:cNvSpPr/>
          <p:nvPr/>
        </p:nvSpPr>
        <p:spPr>
          <a:xfrm>
            <a:off x="502920" y="4059936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ML‑KEM + ML‑DSA</a:t>
            </a:r>
          </a:p>
        </p:txBody>
      </p:sp>
      <p:sp>
        <p:nvSpPr>
          <p:cNvPr id="65" name="Pill"/>
          <p:cNvSpPr/>
          <p:nvPr/>
        </p:nvSpPr>
        <p:spPr>
          <a:xfrm>
            <a:off x="1856232" y="4059936"/>
            <a:ext cx="86685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Streamlit</a:t>
            </a:r>
          </a:p>
        </p:txBody>
      </p:sp>
      <p:sp>
        <p:nvSpPr>
          <p:cNvPr id="66" name="Pill"/>
          <p:cNvSpPr/>
          <p:nvPr/>
        </p:nvSpPr>
        <p:spPr>
          <a:xfrm>
            <a:off x="2814523" y="4059936"/>
            <a:ext cx="152521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pytest + Hypothesis</a:t>
            </a:r>
          </a:p>
        </p:txBody>
      </p:sp>
      <p:sp>
        <p:nvSpPr>
          <p:cNvPr id="67" name="Pill"/>
          <p:cNvSpPr/>
          <p:nvPr/>
        </p:nvSpPr>
        <p:spPr>
          <a:xfrm>
            <a:off x="4431182" y="4059936"/>
            <a:ext cx="9985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0">
                <a:solidFill>
                  <a:srgbClr val="2E1B5B"/>
                </a:solidFill>
                <a:latin typeface="Calibri"/>
              </a:rPr>
              <a:t>Docker + CI</a:t>
            </a:r>
          </a:p>
        </p:txBody>
      </p:sp>
      <p:sp>
        <p:nvSpPr>
          <p:cNvPr id="68" name="Card"/>
          <p:cNvSpPr/>
          <p:nvPr/>
        </p:nvSpPr>
        <p:spPr>
          <a:xfrm>
            <a:off x="6355080" y="3401568"/>
            <a:ext cx="2331720" cy="1216152"/>
          </a:xfrm>
          <a:prstGeom prst="roundRect">
            <a:avLst>
              <a:gd name="adj" fmla="val 6000"/>
            </a:avLst>
          </a:prstGeom>
          <a:solidFill>
            <a:srgbClr val="2E1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"/>
          <p:cNvSpPr txBox="1"/>
          <p:nvPr/>
        </p:nvSpPr>
        <p:spPr>
          <a:xfrm>
            <a:off x="6537960" y="34930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969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6537960" y="406908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D9CCE3"/>
                </a:solidFill>
                <a:latin typeface="Calibri"/>
              </a:rPr>
              <a:t>automated tests · 96%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graphicFrame>
        <p:nvGraphicFramePr>
          <p:cNvPr id="26" name="Results chart" descr="Column chart of success rates on ibm_marrakesh against the noise or random-guess baseline for five circuits"/>
          <p:cNvGraphicFramePr>
            <a:graphicFrameLocks noGrp="1"/>
          </p:cNvGraphicFramePr>
          <p:nvPr/>
        </p:nvGraphicFramePr>
        <p:xfrm>
          <a:off x="548640" y="178308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Card"/>
          <p:cNvSpPr/>
          <p:nvPr/>
        </p:nvSpPr>
        <p:spPr>
          <a:xfrm>
            <a:off x="5577840" y="169164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2E1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5760720" y="1764792"/>
            <a:ext cx="13258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45 / 45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086600" y="1764792"/>
            <a:ext cx="1508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9E0F2"/>
                </a:solidFill>
                <a:latin typeface="Calibri"/>
              </a:rPr>
              <a:t>validation tests passed on 3 IBM quantum computers</a:t>
            </a:r>
          </a:p>
        </p:txBody>
      </p:sp>
      <p:sp>
        <p:nvSpPr>
          <p:cNvPr id="30" name="Card"/>
          <p:cNvSpPr/>
          <p:nvPr/>
        </p:nvSpPr>
        <p:spPr>
          <a:xfrm>
            <a:off x="5577840" y="269748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5760720" y="2770632"/>
            <a:ext cx="13258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24 / 24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086600" y="2770632"/>
            <a:ext cx="1508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strict Shor tests: every machine, every placement</a:t>
            </a:r>
          </a:p>
        </p:txBody>
      </p:sp>
      <p:sp>
        <p:nvSpPr>
          <p:cNvPr id="33" name="Card"/>
          <p:cNvSpPr/>
          <p:nvPr/>
        </p:nvSpPr>
        <p:spPr>
          <a:xfrm>
            <a:off x="5577840" y="370332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"/>
          <p:cNvSpPr txBox="1"/>
          <p:nvPr/>
        </p:nvSpPr>
        <p:spPr>
          <a:xfrm>
            <a:off x="5760720" y="3776472"/>
            <a:ext cx="13258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8639F"/>
                </a:solidFill>
                <a:latin typeface="Georgia"/>
              </a:rPr>
              <a:t>14 / 14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086600" y="3776472"/>
            <a:ext cx="1508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every pre-registered rule on ibm_kingston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WE SCANNED OUR OWN WEBSITE FIRST</a:t>
            </a:r>
          </a:p>
        </p:txBody>
      </p:sp>
      <p:pic>
        <p:nvPicPr>
          <p:cNvPr id="27" name="Screenshot scan" descr="Dashboard scan result for quantyxio.cloud plus the sample code: findings grouped into fix now, plan migration and already saf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3656010" cy="2212848"/>
          </a:xfrm>
          <a:prstGeom prst="rect">
            <a:avLst/>
          </a:prstGeom>
          <a:ln w="12700">
            <a:solidFill>
              <a:srgbClr val="B8BDEB"/>
            </a:solidFill>
          </a:ln>
        </p:spPr>
      </p:pic>
      <p:pic>
        <p:nvPicPr>
          <p:cNvPr id="28" name="Icon check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97680"/>
            <a:ext cx="274320" cy="27432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850392" y="427024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F9E78"/>
                </a:solidFill>
                <a:latin typeface="Calibri"/>
              </a:rPr>
              <a:t>Key exchange: post-quantum</a:t>
            </a:r>
          </a:p>
        </p:txBody>
      </p:sp>
      <p:pic>
        <p:nvPicPr>
          <p:cNvPr id="30" name="Icon x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4297680"/>
            <a:ext cx="274320" cy="27432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3044952" y="4270248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8639F"/>
                </a:solidFill>
                <a:latin typeface="Calibri"/>
              </a:rPr>
              <a:t>Certificate: ECDSA, breakable</a:t>
            </a:r>
          </a:p>
        </p:txBody>
      </p:sp>
      <p:sp>
        <p:nvSpPr>
          <p:cNvPr id="32" name="Label"/>
          <p:cNvSpPr txBox="1"/>
          <p:nvPr/>
        </p:nvSpPr>
        <p:spPr>
          <a:xfrm>
            <a:off x="5120640" y="1737360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WHO NEEDS IT</a:t>
            </a:r>
          </a:p>
        </p:txBody>
      </p:sp>
      <p:pic>
        <p:nvPicPr>
          <p:cNvPr id="33" name="Icon bank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011679"/>
            <a:ext cx="402336" cy="402336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5623560" y="1984248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Banks &amp; payments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RSA and ECC in every login</a:t>
            </a:r>
          </a:p>
        </p:txBody>
      </p:sp>
      <p:pic>
        <p:nvPicPr>
          <p:cNvPr id="35" name="Icon health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542032"/>
            <a:ext cx="402336" cy="402336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5623560" y="2514600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Health &amp; identity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Long-lived data, harvested now</a:t>
            </a:r>
          </a:p>
        </p:txBody>
      </p:sp>
      <p:pic>
        <p:nvPicPr>
          <p:cNvPr id="37" name="Icon enterprise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072384"/>
            <a:ext cx="402336" cy="402336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5623560" y="3044952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Enterprises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A CBOM to plan the 2035 move</a:t>
            </a:r>
          </a:p>
        </p:txBody>
      </p:sp>
      <p:pic>
        <p:nvPicPr>
          <p:cNvPr id="39" name="Icon devsecops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602735"/>
            <a:ext cx="402336" cy="402336"/>
          </a:xfrm>
          <a:prstGeom prst="rect">
            <a:avLst/>
          </a:prstGeom>
        </p:spPr>
      </p:pic>
      <p:sp>
        <p:nvSpPr>
          <p:cNvPr id="40" name="Text"/>
          <p:cNvSpPr txBox="1"/>
          <p:nvPr/>
        </p:nvSpPr>
        <p:spPr>
          <a:xfrm>
            <a:off x="5623560" y="3575303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DevSecOps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qday scan --fail-on critical</a:t>
            </a:r>
          </a:p>
        </p:txBody>
      </p:sp>
      <p:pic>
        <p:nvPicPr>
          <p:cNvPr id="41" name="Icon edu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4133088"/>
            <a:ext cx="402336" cy="402336"/>
          </a:xfrm>
          <a:prstGeom prst="rect">
            <a:avLst/>
          </a:prstGeom>
        </p:spPr>
      </p:pic>
      <p:sp>
        <p:nvSpPr>
          <p:cNvPr id="42" name="Text"/>
          <p:cNvSpPr txBox="1"/>
          <p:nvPr/>
        </p:nvSpPr>
        <p:spPr>
          <a:xfrm>
            <a:off x="5623560" y="4105656"/>
            <a:ext cx="3063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Educators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5E8A"/>
                </a:solidFill>
                <a:latin typeface="Calibri"/>
              </a:rPr>
              <a:t>Shor &amp; Grover, live on real QPUs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  <p:sp>
        <p:nvSpPr>
          <p:cNvPr id="26" name="Label"/>
          <p:cNvSpPr txBox="1"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CHALLENGES</a:t>
            </a:r>
          </a:p>
        </p:txBody>
      </p:sp>
      <p:sp>
        <p:nvSpPr>
          <p:cNvPr id="27" name="Card"/>
          <p:cNvSpPr/>
          <p:nvPr/>
        </p:nvSpPr>
        <p:spPr>
          <a:xfrm>
            <a:off x="502920" y="1984248"/>
            <a:ext cx="406908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Icon noise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457200" cy="45720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234440" y="2039112"/>
            <a:ext cx="1508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E8639F"/>
                </a:solidFill>
                <a:latin typeface="Georgia"/>
              </a:rPr>
              <a:t>22% vs 64%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743200" y="2039112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Grover success on two qubit sets of one chip</a:t>
            </a:r>
          </a:p>
        </p:txBody>
      </p:sp>
      <p:sp>
        <p:nvSpPr>
          <p:cNvPr id="31" name="Card"/>
          <p:cNvSpPr/>
          <p:nvPr/>
        </p:nvSpPr>
        <p:spPr>
          <a:xfrm>
            <a:off x="502920" y="2871215"/>
            <a:ext cx="406908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Icon scale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35808"/>
            <a:ext cx="457200" cy="457200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1234440" y="2926079"/>
            <a:ext cx="1508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E8639F"/>
                </a:solidFill>
                <a:latin typeface="Georgia"/>
              </a:rPr>
              <a:t>173 vs 6,500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2743200" y="2926079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two-qubit gates for
N = 15 vs N = 21</a:t>
            </a:r>
          </a:p>
        </p:txBody>
      </p:sp>
      <p:sp>
        <p:nvSpPr>
          <p:cNvPr id="35" name="Card"/>
          <p:cNvSpPr/>
          <p:nvPr/>
        </p:nvSpPr>
        <p:spPr>
          <a:xfrm>
            <a:off x="502920" y="3758183"/>
            <a:ext cx="406908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Icon toy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22775"/>
            <a:ext cx="457200" cy="457200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1234440" y="3813047"/>
            <a:ext cx="1508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E8639F"/>
                </a:solidFill>
                <a:latin typeface="Georgia"/>
              </a:rPr>
              <a:t>Toy keys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2743200" y="3813047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N = 15, 21 and 3–4-bit keys today</a:t>
            </a:r>
          </a:p>
        </p:txBody>
      </p:sp>
      <p:sp>
        <p:nvSpPr>
          <p:cNvPr id="39" name="Label"/>
          <p:cNvSpPr txBox="1"/>
          <p:nvPr/>
        </p:nvSpPr>
        <p:spPr>
          <a:xfrm>
            <a:off x="4937760" y="173736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8639F"/>
                </a:solidFill>
                <a:latin typeface="Calibri"/>
              </a:rPr>
              <a:t>FUTURE SCOPE</a:t>
            </a:r>
          </a:p>
        </p:txBody>
      </p:sp>
      <p:sp>
        <p:nvSpPr>
          <p:cNvPr id="40" name="Timeline"/>
          <p:cNvSpPr/>
          <p:nvPr/>
        </p:nvSpPr>
        <p:spPr>
          <a:xfrm>
            <a:off x="5175504" y="2103120"/>
            <a:ext cx="36576" cy="2331720"/>
          </a:xfrm>
          <a:prstGeom prst="rect">
            <a:avLst/>
          </a:prstGeom>
          <a:solidFill>
            <a:srgbClr val="B8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imeline dot"/>
          <p:cNvSpPr/>
          <p:nvPr/>
        </p:nvSpPr>
        <p:spPr>
          <a:xfrm>
            <a:off x="5084064" y="2084832"/>
            <a:ext cx="219456" cy="219456"/>
          </a:xfrm>
          <a:prstGeom prst="ellipse">
            <a:avLst/>
          </a:prstGeom>
          <a:solidFill>
            <a:srgbClr val="E8639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5440680" y="201168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639F"/>
                </a:solidFill>
                <a:latin typeface="Georgia"/>
              </a:rPr>
              <a:t>Now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Error suppression and smarter qubit placement</a:t>
            </a:r>
          </a:p>
        </p:txBody>
      </p:sp>
      <p:sp>
        <p:nvSpPr>
          <p:cNvPr id="44" name="Timeline dot"/>
          <p:cNvSpPr/>
          <p:nvPr/>
        </p:nvSpPr>
        <p:spPr>
          <a:xfrm>
            <a:off x="5084064" y="2724912"/>
            <a:ext cx="219456" cy="219456"/>
          </a:xfrm>
          <a:prstGeom prst="ellipse">
            <a:avLst/>
          </a:prstGeom>
          <a:solidFill>
            <a:srgbClr val="5B3BA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5440680" y="265176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3BA8"/>
                </a:solidFill>
                <a:latin typeface="Georgia"/>
              </a:rPr>
              <a:t>Next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126480" y="265176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Reachability analysis in the code scanner</a:t>
            </a:r>
          </a:p>
        </p:txBody>
      </p:sp>
      <p:sp>
        <p:nvSpPr>
          <p:cNvPr id="47" name="Timeline dot"/>
          <p:cNvSpPr/>
          <p:nvPr/>
        </p:nvSpPr>
        <p:spPr>
          <a:xfrm>
            <a:off x="5084064" y="3364992"/>
            <a:ext cx="219456" cy="219456"/>
          </a:xfrm>
          <a:prstGeom prst="ellipse">
            <a:avLst/>
          </a:prstGeom>
          <a:solidFill>
            <a:srgbClr val="7C93F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"/>
          <p:cNvSpPr txBox="1"/>
          <p:nvPr/>
        </p:nvSpPr>
        <p:spPr>
          <a:xfrm>
            <a:off x="5440680" y="329184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C93F0"/>
                </a:solidFill>
                <a:latin typeface="Georgia"/>
              </a:rPr>
              <a:t>2029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6126480" y="329184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IBM Starling: larger attack instances</a:t>
            </a:r>
          </a:p>
        </p:txBody>
      </p:sp>
      <p:sp>
        <p:nvSpPr>
          <p:cNvPr id="50" name="Timeline dot"/>
          <p:cNvSpPr/>
          <p:nvPr/>
        </p:nvSpPr>
        <p:spPr>
          <a:xfrm>
            <a:off x="5084064" y="4005072"/>
            <a:ext cx="219456" cy="219456"/>
          </a:xfrm>
          <a:prstGeom prst="ellipse">
            <a:avLst/>
          </a:prstGeom>
          <a:solidFill>
            <a:srgbClr val="2E1B5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5440680" y="3931920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1B5B"/>
                </a:solidFill>
                <a:latin typeface="Georgia"/>
              </a:rPr>
              <a:t>2033+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126480" y="393192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Blue Jay: fault-tolerant runs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34340" y="3154680"/>
            <a:ext cx="2286000" cy="71323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</a:p>
          <a:p>
            <a:r>
              <a:rPr lang="en-IN" sz="900" dirty="0">
                <a:hlinkClick r:id="rId3"/>
              </a:rPr>
              <a:t>vtu-qiskit-fall-fest-2026/</a:t>
            </a:r>
            <a:r>
              <a:rPr lang="en-IN" sz="900" dirty="0" err="1">
                <a:hlinkClick r:id="rId3"/>
              </a:rPr>
              <a:t>vtu</a:t>
            </a:r>
            <a:r>
              <a:rPr lang="en-IN" sz="900" dirty="0">
                <a:hlinkClick r:id="rId3"/>
              </a:rPr>
              <a:t>-</a:t>
            </a:r>
            <a:r>
              <a:rPr lang="en-IN" sz="900" dirty="0" err="1">
                <a:hlinkClick r:id="rId3"/>
              </a:rPr>
              <a:t>hc</a:t>
            </a:r>
            <a:r>
              <a:rPr lang="en-IN" sz="900" dirty="0">
                <a:hlinkClick r:id="rId3"/>
              </a:rPr>
              <a:t>-straw-hat-pirates at feature/q-day-time-machine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154680"/>
            <a:ext cx="2286000" cy="731521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r>
              <a:rPr lang="en-US" sz="900" dirty="0">
                <a:hlinkClick r:id="rId8"/>
              </a:rPr>
              <a:t>https://youtu.be/8AHgcPisYlE</a:t>
            </a:r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18872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  <p:pic>
        <p:nvPicPr>
          <p:cNvPr id="11" name="QR GitHub" descr="QR code linking to the github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931920"/>
            <a:ext cx="548640" cy="54864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097280" y="3995928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5E8A"/>
                </a:solidFill>
                <a:latin typeface="Calibri"/>
              </a:rPr>
              <a:t>Scan for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GitHub</a:t>
            </a:r>
          </a:p>
        </p:txBody>
      </p:sp>
      <p:pic>
        <p:nvPicPr>
          <p:cNvPr id="13" name="QR Demo on YouTube" descr="QR code linking to the demo on youtub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2928" y="3931920"/>
            <a:ext cx="548640" cy="548640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3493008" y="3995928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B5E8A"/>
                </a:solidFill>
                <a:latin typeface="Calibri"/>
              </a:rPr>
              <a:t>Scan for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E1B5B"/>
                </a:solidFill>
                <a:latin typeface="Calibri"/>
              </a:rPr>
              <a:t>Demo on YouTube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1461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</dc:creator>
  <cp:lastModifiedBy>Krish jain</cp:lastModifiedBy>
  <cp:revision>1</cp:revision>
  <dcterms:modified xsi:type="dcterms:W3CDTF">2026-10-22T11:37:18Z</dcterms:modified>
</cp:coreProperties>
</file>